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 SemiBold"/>
      <p:regular r:id="rId201314"/>
    </p:embeddedFont>
    <p:embeddedFont>
      <p:font typeface="Inter Medium"/>
      <p:regular r:id="rId201315"/>
    </p:embeddedFont>
    <p:embeddedFont>
      <p:font typeface="Inter SemiBold"/>
      <p:regular r:id="rId201316"/>
    </p:embeddedFont>
    <p:embeddedFont>
      <p:font typeface="Inter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1905000"/>
            <a:ext cx="8127797" cy="3654723"/>
          </a:xfrm>
          <a:prstGeom prst="roundRect">
            <a:avLst>
              <a:gd name="adj" fmla="val 5838"/>
            </a:avLst>
          </a:prstGeom>
          <a:solidFill>
            <a:srgbClr val="EEF7F2"/>
          </a:solidFill>
          <a:ln/>
        </p:spPr>
      </p:sp>
      <p:sp>
        <p:nvSpPr>
          <p:cNvPr id="3" name="Text 1"/>
          <p:cNvSpPr/>
          <p:nvPr/>
        </p:nvSpPr>
        <p:spPr>
          <a:xfrm>
            <a:off x="1015975" y="2190591"/>
            <a:ext cx="807699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CUSTOMER SHOPPING BEHAVIOR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15975" y="2578696"/>
            <a:ext cx="7467413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600" spc="-228" kern="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0"/>
              </a:rPr>
              <a:t>Five practical</a:t>
            </a:r>
            <a:endParaRPr lang="en-US" sz="7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600" spc="-228" kern="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0"/>
              </a:rPr>
              <a:t>growth moves</a:t>
            </a:r>
            <a:endParaRPr lang="en-US" sz="7600" dirty="0"/>
          </a:p>
        </p:txBody>
      </p:sp>
      <p:sp>
        <p:nvSpPr>
          <p:cNvPr id="5" name="Shape 3"/>
          <p:cNvSpPr/>
          <p:nvPr/>
        </p:nvSpPr>
        <p:spPr>
          <a:xfrm>
            <a:off x="1015975" y="4667845"/>
            <a:ext cx="126898" cy="38100"/>
          </a:xfrm>
          <a:prstGeom prst="roundRect">
            <a:avLst>
              <a:gd name="adj" fmla="val 49999"/>
            </a:avLst>
          </a:prstGeom>
          <a:solidFill>
            <a:srgbClr val="1C9768"/>
          </a:solidFill>
          <a:ln/>
        </p:spPr>
      </p:sp>
      <p:sp>
        <p:nvSpPr>
          <p:cNvPr id="6" name="Text 4"/>
          <p:cNvSpPr/>
          <p:nvPr/>
        </p:nvSpPr>
        <p:spPr>
          <a:xfrm>
            <a:off x="1015975" y="4942546"/>
            <a:ext cx="8076998" cy="342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 leadership readout from 3,900 purchases.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0"/>
            <a:ext cx="365750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Customer shopping behavior points to five practical growth moves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477242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1182" y="1219240"/>
            <a:ext cx="619744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THE DATASET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1182" y="1548479"/>
            <a:ext cx="5841854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0"/>
              </a:rPr>
              <a:t>3,900 purchases reveal a broad but highly repeat-driven customer base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11182" y="3139182"/>
            <a:ext cx="126898" cy="38100"/>
          </a:xfrm>
          <a:prstGeom prst="roundRect">
            <a:avLst>
              <a:gd name="adj" fmla="val 49999"/>
            </a:avLst>
          </a:prstGeom>
          <a:solidFill>
            <a:srgbClr val="1C9768"/>
          </a:solidFill>
          <a:ln/>
        </p:spPr>
      </p:sp>
      <p:sp>
        <p:nvSpPr>
          <p:cNvPr id="7" name="Shape 5"/>
          <p:cNvSpPr/>
          <p:nvPr/>
        </p:nvSpPr>
        <p:spPr>
          <a:xfrm>
            <a:off x="711182" y="3409057"/>
            <a:ext cx="2844729" cy="2008584"/>
          </a:xfrm>
          <a:prstGeom prst="roundRect">
            <a:avLst>
              <a:gd name="adj" fmla="val 10622"/>
            </a:avLst>
          </a:prstGeom>
          <a:solidFill>
            <a:srgbClr val="EEF7F2"/>
          </a:solidFill>
          <a:ln/>
        </p:spPr>
      </p:sp>
      <p:sp>
        <p:nvSpPr>
          <p:cNvPr id="8" name="Text 6"/>
          <p:cNvSpPr/>
          <p:nvPr/>
        </p:nvSpPr>
        <p:spPr>
          <a:xfrm>
            <a:off x="939776" y="3701157"/>
            <a:ext cx="238754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0"/>
              </a:rPr>
              <a:t>3,900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939776" y="4498955"/>
            <a:ext cx="2387540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purchases across 4 categories, 50 locations, and 25 products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708307" y="3409057"/>
            <a:ext cx="2844729" cy="2008584"/>
          </a:xfrm>
          <a:prstGeom prst="roundRect">
            <a:avLst>
              <a:gd name="adj" fmla="val 10622"/>
            </a:avLst>
          </a:prstGeom>
          <a:solidFill>
            <a:srgbClr val="EEF7F2"/>
          </a:solidFill>
          <a:ln/>
        </p:spPr>
      </p:sp>
      <p:sp>
        <p:nvSpPr>
          <p:cNvPr id="11" name="Text 9"/>
          <p:cNvSpPr/>
          <p:nvPr/>
        </p:nvSpPr>
        <p:spPr>
          <a:xfrm>
            <a:off x="3936902" y="3701157"/>
            <a:ext cx="238754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0"/>
              </a:rPr>
              <a:t>$59.76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936902" y="4498955"/>
            <a:ext cx="2387540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average purchase · 3.75 average review rating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1182" y="5599490"/>
            <a:ext cx="6197445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Data quality: 37 review ratings were filled using category medians.</a:t>
            </a:r>
            <a:endParaRPr lang="en-US" sz="13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221" y="715367"/>
            <a:ext cx="4825879" cy="5609233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1365720" y="6583859"/>
            <a:ext cx="825975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02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0"/>
            <a:ext cx="365750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Customer shopping behavior points to five practical growth moves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477242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102558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COMMERCIAL ENGINE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431798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0"/>
              </a:rPr>
              <a:t>Clothing is the commercial engine, with accessories a strong second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09585" y="2514878"/>
            <a:ext cx="1158211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Clothing leads both revenue and order volume; accessories is the clear second engine.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243759"/>
            <a:ext cx="5460863" cy="276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4918" y="2920008"/>
            <a:ext cx="4267192" cy="1227634"/>
          </a:xfrm>
          <a:prstGeom prst="roundRect">
            <a:avLst>
              <a:gd name="adj" fmla="val 17379"/>
            </a:avLst>
          </a:prstGeom>
          <a:solidFill>
            <a:srgbClr val="EEF7F2"/>
          </a:solidFill>
          <a:ln/>
        </p:spPr>
      </p:sp>
      <p:sp>
        <p:nvSpPr>
          <p:cNvPr id="9" name="Text 6"/>
          <p:cNvSpPr/>
          <p:nvPr/>
        </p:nvSpPr>
        <p:spPr>
          <a:xfrm>
            <a:off x="7543512" y="3159085"/>
            <a:ext cx="381000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84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$100K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543512" y="3691711"/>
            <a:ext cx="4038598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clothing revenue · roughly 1,700 orders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314918" y="4300041"/>
            <a:ext cx="4267192" cy="1227634"/>
          </a:xfrm>
          <a:prstGeom prst="roundRect">
            <a:avLst>
              <a:gd name="adj" fmla="val 17379"/>
            </a:avLst>
          </a:prstGeom>
          <a:solidFill>
            <a:srgbClr val="EEF7F2"/>
          </a:solidFill>
          <a:ln/>
        </p:spPr>
      </p:sp>
      <p:sp>
        <p:nvSpPr>
          <p:cNvPr id="12" name="Text 9"/>
          <p:cNvSpPr/>
          <p:nvPr/>
        </p:nvSpPr>
        <p:spPr>
          <a:xfrm>
            <a:off x="7543512" y="4539119"/>
            <a:ext cx="381000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84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$75K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543512" y="5071745"/>
            <a:ext cx="4038598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accessories revenue · roughly 1,200 orders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314918" y="5646023"/>
            <a:ext cx="4267192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Best-selling products: jewelry, sunglasses, belt, blouse, pants, shirt, sandals, shoes, sneakers, jacket, and coat.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1363934" y="6583859"/>
            <a:ext cx="827761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03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0"/>
            <a:ext cx="365750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Customer shopping behavior points to five practical growth moves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477242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1182" y="1506676"/>
            <a:ext cx="619744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TARGETING QUESTION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1182" y="1835916"/>
            <a:ext cx="5841854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0"/>
              </a:rPr>
              <a:t>Male customers generate more revenue, but the gap is a targeting question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1182" y="3417094"/>
            <a:ext cx="5841854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1C9768"/>
                </a:solidFill>
                <a:latin typeface="DM Sans SemiBold" pitchFamily="34" charset="0"/>
                <a:ea typeface="DM Sans SemiBold" pitchFamily="34" charset="-122"/>
                <a:cs typeface="DM Sans SemiBold" pitchFamily="34" charset="0"/>
              </a:rPr>
              <a:t>$157,890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1182" y="4214892"/>
            <a:ext cx="6197445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Male revenue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1182" y="4624340"/>
            <a:ext cx="5841854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Use the difference to guide campaign allocation, then test whether it reflects customer mix, basket size, or both.</a:t>
            </a:r>
            <a:endParaRPr lang="en-US" sz="1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8212" y="2226667"/>
            <a:ext cx="4063898" cy="22757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18212" y="4585871"/>
            <a:ext cx="4673483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Female revenue: $75,191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1358874" y="6583859"/>
            <a:ext cx="832821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04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0"/>
            <a:ext cx="365750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Customer shopping behavior points to five practical growth moves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477242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102558"/>
            <a:ext cx="3454314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RETENTION ADVANTAGE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431798"/>
            <a:ext cx="2844729" cy="2746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0"/>
              </a:rPr>
              <a:t>Loyal customers dominate the base, creating a retention advantage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09585" y="4345932"/>
            <a:ext cx="2844729" cy="183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The immediate opportunity is not only acquisition: it is converting returning buyers into loyal customers and rewarding repeat behavior.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483" y="1880394"/>
            <a:ext cx="6908627" cy="351601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1368002" y="6583859"/>
            <a:ext cx="82369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05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0"/>
            <a:ext cx="365750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Customer shopping behavior points to five practical growth moves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477242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102558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SUBSCRIPTION GAP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431798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0"/>
              </a:rPr>
              <a:t>Subscriptions are underpenetrated despite a large repeat-buyer pool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09585" y="2515148"/>
            <a:ext cx="1158211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There is a conversion opportunity, but the offer must create value beyond a lower price.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995116"/>
            <a:ext cx="3809905" cy="2794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9585" y="5872540"/>
            <a:ext cx="5333867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27% subscribers · 73% non-subscribers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244" y="2995116"/>
            <a:ext cx="3809905" cy="279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48244" y="5872540"/>
            <a:ext cx="5333867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Average spend is nearly flat: $59.49 vs $59.87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1363438" y="6583859"/>
            <a:ext cx="82825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06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0"/>
            <a:ext cx="365750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Customer shopping behavior points to five practical growth moves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477242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1182" y="1162090"/>
            <a:ext cx="619744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MARGIN SENSITIVITY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1182" y="1491329"/>
            <a:ext cx="5841854" cy="183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0"/>
              </a:rPr>
              <a:t>Discounts attract high spenders, but several products may be margin-sensitive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1182" y="3530203"/>
            <a:ext cx="5841854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1C9768"/>
                </a:solidFill>
                <a:latin typeface="DM Sans SemiBold" pitchFamily="34" charset="0"/>
                <a:ea typeface="DM Sans SemiBold" pitchFamily="34" charset="-122"/>
                <a:cs typeface="DM Sans SemiBold" pitchFamily="34" charset="0"/>
              </a:rPr>
              <a:t>839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1182" y="4328001"/>
            <a:ext cx="5841854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high-spending discount users spent above the average purchase amount while using discounts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1182" y="4968827"/>
            <a:ext cx="5841854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Keep discounts where they lift conversion, but test thresholds, bundles, and targeted offers on discount-dependent products.</a:t>
            </a:r>
            <a:endParaRPr lang="en-US" sz="1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8212" y="2364581"/>
            <a:ext cx="4063898" cy="23108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1376832" y="6583859"/>
            <a:ext cx="81486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07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0"/>
            <a:ext cx="365750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Customer shopping behavior points to five practical growth moves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477242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102558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MERCHANDISING PROOF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431798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0"/>
              </a:rPr>
              <a:t>Top-rated products create a ready-made merchandising story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09585" y="2515148"/>
            <a:ext cx="10972526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Pair product ratings with the category leaders to build campaigns around proof, not just price. Feature best-rated items in recommendations, bundles, and post-purchase follow-ups.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343003"/>
            <a:ext cx="5079873" cy="19050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813" y="3911203"/>
            <a:ext cx="4521087" cy="2768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11363438" y="6583859"/>
            <a:ext cx="82825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08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0"/>
            <a:ext cx="365750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Customer shopping behavior points to five practical growth moves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477242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102558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DEMAND SIGNALS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431798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0"/>
              </a:rPr>
              <a:t>Young adults lead revenue, while express shipping correlates with a slightly higher basket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09585" y="2515148"/>
            <a:ext cx="1158211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Prioritize young-adult campaigns and test express-shipping messaging as a value signal.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995116"/>
            <a:ext cx="4952876" cy="33020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244" y="2995116"/>
            <a:ext cx="4952876" cy="3302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11363438" y="6583859"/>
            <a:ext cx="82825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09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0"/>
            <a:ext cx="365750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Customer shopping behavior points to five practical growth moves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477242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102558"/>
            <a:ext cx="711182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FROM ANALYSIS TO ACTION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431798"/>
            <a:ext cx="6502237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0"/>
              </a:rPr>
              <a:t>Five actions can turn the analysis into measurable growth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09585" y="2510830"/>
            <a:ext cx="6502237" cy="3268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8000"/>
              </a:lnSpc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Grow subscriptions:</a:t>
            </a:r>
            <a:pPr algn="l" marL="345440" indent="-345440">
              <a:lnSpc>
                <a:spcPct val="11800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 design exclusive benefits for the 73% of customers who are not subscribed</a:t>
            </a:r>
            <a:endParaRPr lang="en-US" sz="1700" dirty="0"/>
          </a:p>
          <a:p>
            <a:pPr algn="l" marL="345440" indent="-34544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Reward loyalty:</a:t>
            </a:r>
            <a:pPr algn="l" marL="345440" indent="-34544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 move returning buyers toward the loyal segment with milestone-based benefits.</a:t>
            </a:r>
            <a:endParaRPr lang="en-US" sz="1700" dirty="0"/>
          </a:p>
          <a:p>
            <a:pPr algn="l" marL="345440" indent="-345440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Protect margin:</a:t>
            </a:r>
            <a:pPr algn="l" marL="345440" indent="-345440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 review discount depth on hats, sneakers, coats, sweaters, and pants</a:t>
            </a:r>
            <a:endParaRPr lang="en-US" sz="1700" dirty="0"/>
          </a:p>
          <a:p>
            <a:pPr algn="l" marL="345440" indent="-345440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Merchandise proof:</a:t>
            </a:r>
            <a:pPr algn="l" marL="345440" indent="-345440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 feature top-rated and best-selling products in campaigns</a:t>
            </a:r>
            <a:endParaRPr lang="en-US" sz="1700" dirty="0"/>
          </a:p>
          <a:p>
            <a:pPr algn="l" marL="345440" indent="-345440">
              <a:lnSpc>
                <a:spcPct val="118000"/>
              </a:lnSpc>
              <a:buSzPct val="100000"/>
              <a:buFont typeface="+mj-lt"/>
              <a:buAutoNum type="arabicPeriod" startAt="5"/>
            </a:pPr>
            <a:r>
              <a:rPr lang="en-US" sz="1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Target demand:</a:t>
            </a:r>
            <a:pPr algn="l" marL="345440" indent="-345440">
              <a:lnSpc>
                <a:spcPct val="118000"/>
              </a:lnSpc>
              <a:buSzPct val="100000"/>
              <a:buFont typeface="+mj-lt"/>
              <a:buAutoNum type="arabicPeriod" startAt="5"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 focus marketing on young adults and test express-shipping positioning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9202" y="664567"/>
            <a:ext cx="4114697" cy="571083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1400247" y="6583859"/>
            <a:ext cx="791448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10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2026-10-26T08:01:23Z</dcterms:created>
  <dcterms:modified xsi:type="dcterms:W3CDTF">2026-10-26T08:01:23Z</dcterms:modified>
</cp:coreProperties>
</file>